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0"/>
            <a:ext cx="12188952" cy="73152"/>
          </a:xfrm>
          <a:prstGeom prst="rect">
            <a:avLst/>
          </a:prstGeom>
          <a:solidFill>
            <a:srgbClr val="0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A0A0"/>
                </a:solidFill>
                <a:latin typeface="Calibri"/>
              </a:rPr>
              <a:t>COTIVITI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Content Management in Health Care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317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B4D2F0"/>
                </a:solidFill>
                <a:latin typeface="Calibri"/>
              </a:rPr>
              <a:t>AI-Driven Policy Intelligence:
Opportunities, Threats &amp; Strategic Investments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383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0BEDC"/>
                </a:solidFill>
                <a:latin typeface="Calibri"/>
              </a:rPr>
              <a:t>Intern Assessment  —  Topic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760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BEDC"/>
                </a:solidFill>
                <a:latin typeface="Calibri"/>
              </a:rPr>
              <a:t>Likitha KB  | 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0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502920" cy="438912"/>
          </a:xfrm>
          <a:prstGeom prst="rect">
            <a:avLst/>
          </a:prstGeom>
          <a:solidFill>
            <a:srgbClr val="0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8016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252728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467F"/>
                </a:solidFill>
                <a:latin typeface="Calibri"/>
              </a:rPr>
              <a:t>Problem Statement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1252728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87878"/>
                </a:solidFill>
                <a:latin typeface="Calibri"/>
              </a:rPr>
              <a:t>Why healthcare content management is broken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810512"/>
            <a:ext cx="502920" cy="438912"/>
          </a:xfrm>
          <a:prstGeom prst="rect">
            <a:avLst/>
          </a:prstGeom>
          <a:solidFill>
            <a:srgbClr val="0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856231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182880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467F"/>
                </a:solidFill>
                <a:latin typeface="Calibri"/>
              </a:rPr>
              <a:t>Concept Definition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0" y="182880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87878"/>
                </a:solidFill>
                <a:latin typeface="Calibri"/>
              </a:rPr>
              <a:t>What content management in healthcare means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386584"/>
            <a:ext cx="502920" cy="438912"/>
          </a:xfrm>
          <a:prstGeom prst="rect">
            <a:avLst/>
          </a:prstGeom>
          <a:solidFill>
            <a:srgbClr val="0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2432304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404872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467F"/>
                </a:solidFill>
                <a:latin typeface="Calibri"/>
              </a:rPr>
              <a:t>Key Trends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23360" y="2404872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87878"/>
                </a:solidFill>
                <a:latin typeface="Calibri"/>
              </a:rPr>
              <a:t>AI adoption, policy velocity, automation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962656"/>
            <a:ext cx="502920" cy="438912"/>
          </a:xfrm>
          <a:prstGeom prst="rect">
            <a:avLst/>
          </a:prstGeom>
          <a:solidFill>
            <a:srgbClr val="0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3008376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2980944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467F"/>
                </a:solidFill>
                <a:latin typeface="Calibri"/>
              </a:rPr>
              <a:t>Opportunities &amp; Threats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23360" y="2980944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87878"/>
                </a:solidFill>
                <a:latin typeface="Calibri"/>
              </a:rPr>
              <a:t>Strategic landscape analysis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538728"/>
            <a:ext cx="502920" cy="438912"/>
          </a:xfrm>
          <a:prstGeom prst="rect">
            <a:avLst/>
          </a:prstGeom>
          <a:solidFill>
            <a:srgbClr val="0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3584448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3557016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467F"/>
                </a:solidFill>
                <a:latin typeface="Calibri"/>
              </a:rPr>
              <a:t>Strategic Recommendations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23360" y="3557016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87878"/>
                </a:solidFill>
                <a:latin typeface="Calibri"/>
              </a:rPr>
              <a:t>Three investments for Cotiviti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114800"/>
            <a:ext cx="502920" cy="438912"/>
          </a:xfrm>
          <a:prstGeom prst="rect">
            <a:avLst/>
          </a:prstGeom>
          <a:solidFill>
            <a:srgbClr val="0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416052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4133087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467F"/>
                </a:solidFill>
                <a:latin typeface="Calibri"/>
              </a:rPr>
              <a:t>POC Demo Overview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23360" y="4133087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87878"/>
                </a:solidFill>
                <a:latin typeface="Calibri"/>
              </a:rPr>
              <a:t>Healthcare Policy Content Analyzer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4690872"/>
            <a:ext cx="502920" cy="438912"/>
          </a:xfrm>
          <a:prstGeom prst="rect">
            <a:avLst/>
          </a:prstGeom>
          <a:solidFill>
            <a:srgbClr val="0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473659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470916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467F"/>
                </a:solidFill>
                <a:latin typeface="Calibri"/>
              </a:rPr>
              <a:t>Architecture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23360" y="470916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87878"/>
                </a:solidFill>
                <a:latin typeface="Calibri"/>
              </a:rPr>
              <a:t>How the POC works end-to-end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5266944"/>
            <a:ext cx="502920" cy="438912"/>
          </a:xfrm>
          <a:prstGeom prst="rect">
            <a:avLst/>
          </a:prstGeom>
          <a:solidFill>
            <a:srgbClr val="0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5312664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" y="5285231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467F"/>
                </a:solidFill>
                <a:latin typeface="Calibri"/>
              </a:rPr>
              <a:t>Live Demo Results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023360" y="5285231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87878"/>
                </a:solidFill>
                <a:latin typeface="Calibri"/>
              </a:rPr>
              <a:t>Real output from the analyzer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5843016"/>
            <a:ext cx="502920" cy="438912"/>
          </a:xfrm>
          <a:prstGeom prst="rect">
            <a:avLst/>
          </a:prstGeom>
          <a:solidFill>
            <a:srgbClr val="0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60" y="5888736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" y="5861304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467F"/>
                </a:solidFill>
                <a:latin typeface="Calibri"/>
              </a:rPr>
              <a:t>Conclusion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023360" y="5861304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87878"/>
                </a:solidFill>
                <a:latin typeface="Calibri"/>
              </a:rPr>
              <a:t>Key takeaways and next steps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4320" y="6492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87878"/>
                </a:solidFill>
                <a:latin typeface="Calibri"/>
              </a:rPr>
              <a:t>Cotiviti Intern Assessment  |  Likitha KB  |  June 2026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43000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87878"/>
                </a:solidFill>
                <a:latin typeface="Calibri"/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0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DCF0"/>
                </a:solidFill>
                <a:latin typeface="Calibri"/>
              </a:rPr>
              <a:t>Healthcare policy management is a manual, error-prone, expensive process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2651760" cy="201168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00A0A0"/>
                </a:solidFill>
                <a:latin typeface="Calibri"/>
              </a:rPr>
              <a:t>$280B+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7744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spent annually
on healthcare administration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1371600"/>
            <a:ext cx="2651760" cy="201168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46304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00A0A0"/>
                </a:solidFill>
                <a:latin typeface="Calibri"/>
              </a:rPr>
              <a:t>$40–60B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37744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lost to contracting
inefficiencies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371600"/>
            <a:ext cx="2651760" cy="201168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146304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00A0A0"/>
                </a:solidFill>
                <a:latin typeface="Calibri"/>
              </a:rPr>
              <a:t>Weeks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37744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to update claims
editing after CMS change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0" y="1371600"/>
            <a:ext cx="2651760" cy="201168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35440" y="146304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00A0A0"/>
                </a:solidFill>
                <a:latin typeface="Calibri"/>
              </a:rPr>
              <a:t>$5.7B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237744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in FCA settlements
(FY2025, healthcare)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3611880"/>
            <a:ext cx="11430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1E1E"/>
                </a:solidFill>
                <a:latin typeface="Calibri"/>
              </a:rPr>
              <a:t>Revenue cycle teams, clinical coders, and payer relations staff manually track CMS updates, AMA code changes, and payer policy revisions — then hand-translate them into system rules. This creates costly delays, missed updates, and compliance risk.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470916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467F"/>
                </a:solidFill>
                <a:latin typeface="Calibri"/>
              </a:rPr>
              <a:t>→  LLMs can automate the read → understand → extract → alert → rule pipeline.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6492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87878"/>
                </a:solidFill>
                <a:latin typeface="Calibri"/>
              </a:rPr>
              <a:t>Cotiviti Intern Assessment  |  Likitha KB  |  June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87878"/>
                </a:solidFill>
                <a:latin typeface="Calibri"/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0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Content Management in Health Care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DCF0"/>
                </a:solidFill>
                <a:latin typeface="Calibri"/>
              </a:rPr>
              <a:t>Definition and 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234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1E1E"/>
                </a:solidFill>
                <a:latin typeface="Calibri"/>
              </a:rPr>
              <a:t>Healthcare content management covers the lifecycle of policy documents that govern clinical and financial operations — from creation and versioning to automated interpretation and rule deployment.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194560"/>
            <a:ext cx="2743200" cy="2286000"/>
          </a:xfrm>
          <a:prstGeom prst="rect">
            <a:avLst/>
          </a:prstGeom>
          <a:solidFill>
            <a:srgbClr val="F5F5F5"/>
          </a:solidFill>
          <a:ln w="19050">
            <a:solidFill>
              <a:srgbClr val="0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28600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467F"/>
                </a:solidFill>
                <a:latin typeface="Calibri"/>
              </a:rPr>
              <a:t>Billing &amp; Coding
Policies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87878"/>
                </a:solidFill>
                <a:latin typeface="Calibri"/>
              </a:rPr>
              <a:t>CPT, ICD-10, HCPCS,
CMS fee schedules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2194560"/>
            <a:ext cx="2743200" cy="2286000"/>
          </a:xfrm>
          <a:prstGeom prst="rect">
            <a:avLst/>
          </a:prstGeom>
          <a:solidFill>
            <a:srgbClr val="F5F5F5"/>
          </a:solidFill>
          <a:ln w="19050">
            <a:solidFill>
              <a:srgbClr val="0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228600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467F"/>
                </a:solidFill>
                <a:latin typeface="Calibri"/>
              </a:rPr>
              <a:t>Clinical Practice
Guidelines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310896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87878"/>
                </a:solidFill>
                <a:latin typeface="Calibri"/>
              </a:rPr>
              <a:t>AMA, AHRQ, specialty
society guidelines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2194560"/>
            <a:ext cx="2743200" cy="2286000"/>
          </a:xfrm>
          <a:prstGeom prst="rect">
            <a:avLst/>
          </a:prstGeom>
          <a:solidFill>
            <a:srgbClr val="F5F5F5"/>
          </a:solidFill>
          <a:ln w="19050">
            <a:solidFill>
              <a:srgbClr val="0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228600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467F"/>
                </a:solidFill>
                <a:latin typeface="Calibri"/>
              </a:rPr>
              <a:t>Payer-Provider
Contracts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310896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87878"/>
                </a:solidFill>
                <a:latin typeface="Calibri"/>
              </a:rPr>
              <a:t>Fee schedules, network
agreements, credentialing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0" y="2194560"/>
            <a:ext cx="2743200" cy="2286000"/>
          </a:xfrm>
          <a:prstGeom prst="rect">
            <a:avLst/>
          </a:prstGeom>
          <a:solidFill>
            <a:srgbClr val="F5F5F5"/>
          </a:solidFill>
          <a:ln w="19050">
            <a:solidFill>
              <a:srgbClr val="0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35440" y="228600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467F"/>
                </a:solidFill>
                <a:latin typeface="Calibri"/>
              </a:rPr>
              <a:t>Prior Authorization
Rules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310896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87878"/>
                </a:solidFill>
                <a:latin typeface="Calibri"/>
              </a:rPr>
              <a:t>Medical necessity criteria,
step therapy requirements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46634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A0A0"/>
                </a:solidFill>
                <a:latin typeface="Calibri"/>
              </a:rPr>
              <a:t>AI Opportunity 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68880" y="4663440"/>
            <a:ext cx="9326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1E"/>
                </a:solidFill>
                <a:latin typeface="Calibri"/>
              </a:rPr>
              <a:t>LLMs can read, compare, summarize, and convert all four content types into machine-readable rules — replacing weeks of manual analyst work.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6492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87878"/>
                </a:solidFill>
                <a:latin typeface="Calibri"/>
              </a:rPr>
              <a:t>Cotiviti Intern Assessment  |  Likitha KB  |  June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87878"/>
                </a:solidFill>
                <a:latin typeface="Calibri"/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0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Key Trends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DCF0"/>
                </a:solidFill>
                <a:latin typeface="Calibri"/>
              </a:rPr>
              <a:t>AI is reshaping healthcare content management at speed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80160"/>
            <a:ext cx="5577840" cy="24688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280160"/>
            <a:ext cx="164592" cy="246888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59" y="1389888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467F"/>
                </a:solidFill>
                <a:latin typeface="Calibri"/>
              </a:rPr>
              <a:t>Policy Velocity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59" y="1874519"/>
            <a:ext cx="5120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1E1E1E"/>
                </a:solidFill>
                <a:latin typeface="Calibri"/>
              </a:rPr>
              <a:t>▸  CMS MPFS updated annually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E1E1E"/>
                </a:solidFill>
                <a:latin typeface="Calibri"/>
              </a:rPr>
              <a:t>▸  ICD-10 adds 100s of codes/year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E1E1E"/>
                </a:solidFill>
                <a:latin typeface="Calibri"/>
              </a:rPr>
              <a:t>▸  Commercial payers issue updates continuously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1280160"/>
            <a:ext cx="5577840" cy="24688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1280160"/>
            <a:ext cx="164592" cy="2468880"/>
          </a:xfrm>
          <a:prstGeom prst="rect">
            <a:avLst/>
          </a:prstGeom>
          <a:solidFill>
            <a:srgbClr val="0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389888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A0A0"/>
                </a:solidFill>
                <a:latin typeface="Calibri"/>
              </a:rPr>
              <a:t>AI Adoption in RCM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874519"/>
            <a:ext cx="5120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1E1E1E"/>
                </a:solidFill>
                <a:latin typeface="Calibri"/>
              </a:rPr>
              <a:t>▸  46% of hospitals used AI in billing (2023)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E1E1E"/>
                </a:solidFill>
                <a:latin typeface="Calibri"/>
              </a:rPr>
              <a:t>▸  70% used predictive AI by 2024 (+25pp YoY)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E1E1E"/>
                </a:solidFill>
                <a:latin typeface="Calibri"/>
              </a:rPr>
              <a:t>▸  Fine-tuned LLMs: 97% coding accuracy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3931920"/>
            <a:ext cx="5577840" cy="24688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" y="3931920"/>
            <a:ext cx="164592" cy="2468880"/>
          </a:xfrm>
          <a:prstGeom prst="rect">
            <a:avLst/>
          </a:prstGeom>
          <a:solidFill>
            <a:srgbClr val="006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59" y="4041648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6450"/>
                </a:solidFill>
                <a:latin typeface="Calibri"/>
              </a:rPr>
              <a:t>Policy-to-Code Automation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59" y="4526280"/>
            <a:ext cx="5120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1E1E1E"/>
                </a:solidFill>
                <a:latin typeface="Calibri"/>
              </a:rPr>
              <a:t>▸  LLMs extract guideline rules with clinical accuracy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E1E1E"/>
                </a:solidFill>
                <a:latin typeface="Calibri"/>
              </a:rPr>
              <a:t>▸  Payer contract AI automates compliance checks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E1E1E"/>
                </a:solidFill>
                <a:latin typeface="Calibri"/>
              </a:rPr>
              <a:t>▸  NLP converts policy text to denial rules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72200" y="3931920"/>
            <a:ext cx="5577840" cy="24688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2200" y="3931920"/>
            <a:ext cx="164592" cy="246888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4041648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00000"/>
                </a:solidFill>
                <a:latin typeface="Calibri"/>
              </a:rPr>
              <a:t>Regulatory Pressure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4526280"/>
            <a:ext cx="5120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1E1E1E"/>
                </a:solidFill>
                <a:latin typeface="Calibri"/>
              </a:rPr>
              <a:t>▸  DOJ: $5.7B FCA settlements in FY2025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E1E1E"/>
                </a:solidFill>
                <a:latin typeface="Calibri"/>
              </a:rPr>
              <a:t>▸  AI billing flagged as enforcement priority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E1E1E"/>
                </a:solidFill>
                <a:latin typeface="Calibri"/>
              </a:rPr>
              <a:t>▸  HIPAA governs any PHI-adjacent processing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6492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87878"/>
                </a:solidFill>
                <a:latin typeface="Calibri"/>
              </a:rPr>
              <a:t>Cotiviti Intern Assessment  |  Likitha KB  |  June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87878"/>
                </a:solidFill>
                <a:latin typeface="Calibri"/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0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Opportunities &amp; Threats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DCF0"/>
                </a:solidFill>
                <a:latin typeface="Calibri"/>
              </a:rPr>
              <a:t>Strategic landscape for AI-driven policy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34440"/>
            <a:ext cx="5577840" cy="5303520"/>
          </a:xfrm>
          <a:prstGeom prst="rect">
            <a:avLst/>
          </a:prstGeom>
          <a:solidFill>
            <a:srgbClr val="EBF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5577840" cy="457200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261872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OPPORTUNITIES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8288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8000"/>
                </a:solidFill>
                <a:latin typeface="Calibri"/>
              </a:rPr>
              <a:t>✓  Policy change monitoring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176272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Auto-detect and summarize CMS/AMA/payer updates in hours, not weeks.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9260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8000"/>
                </a:solidFill>
                <a:latin typeface="Calibri"/>
              </a:rPr>
              <a:t>✓  Rule extraction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273552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Convert policy text to executable denial-prevention rules.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40233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8000"/>
                </a:solidFill>
                <a:latin typeface="Calibri"/>
              </a:rPr>
              <a:t>✓  Contract intelligence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370832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Flag reimbursement mismatches between contracts and active policies.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51206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8000"/>
                </a:solidFill>
                <a:latin typeface="Calibri"/>
              </a:rPr>
              <a:t>✓  Downstream AI enablement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5468112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Structured policy output feeds FWA detection and predictive coding models.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1234440"/>
            <a:ext cx="5577840" cy="5303520"/>
          </a:xfrm>
          <a:prstGeom prst="rect">
            <a:avLst/>
          </a:prstGeom>
          <a:solidFill>
            <a:srgbClr val="FC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1234440"/>
            <a:ext cx="5577840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1261872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THREATS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182880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0000"/>
                </a:solidFill>
                <a:latin typeface="Calibri"/>
              </a:rPr>
              <a:t>✗  Hallucination risk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2176272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LLMs may misread ambiguous policy language → incorrect rules → claim denials.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92608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0000"/>
                </a:solidFill>
                <a:latin typeface="Calibri"/>
              </a:rPr>
              <a:t>✗  HIPAA compliance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3273552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PHI-adjacent policy data requires data governance and BAA agreements.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02336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0000"/>
                </a:solidFill>
                <a:latin typeface="Calibri"/>
              </a:rPr>
              <a:t>✗  Legal exposure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4370832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AI billing flagged by DOJ as FCA enforcement priority.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12064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0000"/>
                </a:solidFill>
                <a:latin typeface="Calibri"/>
              </a:rPr>
              <a:t>✗  Over-automation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5468112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Removal of human oversight in high-stakes billing increases audit risk.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" y="6492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87878"/>
                </a:solidFill>
                <a:latin typeface="Calibri"/>
              </a:rPr>
              <a:t>Cotiviti Intern Assessment  |  Likitha KB  |  June 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87878"/>
                </a:solidFill>
                <a:latin typeface="Calibri"/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0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Strategic Recommendations for Cotiviti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DCF0"/>
                </a:solidFill>
                <a:latin typeface="Calibri"/>
              </a:rPr>
              <a:t>Three investments to lead AI-driven policy intelligence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371600"/>
            <a:ext cx="640080" cy="146304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8288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1371600"/>
            <a:ext cx="10881360" cy="14630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1444752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467F"/>
                </a:solidFill>
                <a:latin typeface="Calibri"/>
              </a:rPr>
              <a:t>PolicyIQ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84708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787878"/>
                </a:solidFill>
                <a:latin typeface="Calibri"/>
              </a:rPr>
              <a:t>Automated Policy Change Intelligence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1463040"/>
            <a:ext cx="5852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E1E"/>
                </a:solidFill>
                <a:latin typeface="Calibri"/>
              </a:rPr>
              <a:t>Continuously monitor CMS, AMA, and payer feeds. Auto-detect version changes, generate structured summaries, and flag high-risk changes for human review. Reduces time-to-update from weeks to hours.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108960"/>
            <a:ext cx="640080" cy="1463040"/>
          </a:xfrm>
          <a:prstGeom prst="rect">
            <a:avLst/>
          </a:prstGeom>
          <a:solidFill>
            <a:srgbClr val="0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356616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05840" y="3108960"/>
            <a:ext cx="10881360" cy="14630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3182112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A0A0"/>
                </a:solidFill>
                <a:latin typeface="Calibri"/>
              </a:rPr>
              <a:t>Policy-to-Rule Compiler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358444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787878"/>
                </a:solidFill>
                <a:latin typeface="Calibri"/>
              </a:rPr>
              <a:t>From Policy Text to Executable Logic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3200400"/>
            <a:ext cx="5852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E1E"/>
                </a:solidFill>
                <a:latin typeface="Calibri"/>
              </a:rPr>
              <a:t>Extend the LLM pipeline to convert extracted rules into SQL, decision trees, or HL7 CDS Hooks for real-time claims editing. Gives payer clients a faster, auditable path from CMS guidance to live rules.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4846320"/>
            <a:ext cx="640080" cy="1463040"/>
          </a:xfrm>
          <a:prstGeom prst="rect">
            <a:avLst/>
          </a:prstGeom>
          <a:solidFill>
            <a:srgbClr val="006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530352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05840" y="4846320"/>
            <a:ext cx="10881360" cy="14630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4919472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6450"/>
                </a:solidFill>
                <a:latin typeface="Calibri"/>
              </a:rPr>
              <a:t>Human-in-the-Loop Review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532180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787878"/>
                </a:solidFill>
                <a:latin typeface="Calibri"/>
              </a:rPr>
              <a:t>AI + Expert Validation Workflow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52160" y="4937759"/>
            <a:ext cx="5852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E1E"/>
                </a:solidFill>
                <a:latin typeface="Calibri"/>
              </a:rPr>
              <a:t>Route AI-generated summaries to clinical coding experts before activation. Mitigates hallucination risk, satisfies regulatory oversight requirements, and builds an auditable compliance trail for FCA purposes.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" y="6492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87878"/>
                </a:solidFill>
                <a:latin typeface="Calibri"/>
              </a:rPr>
              <a:t>Cotiviti Intern Assessment  |  Likitha KB  |  June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87878"/>
                </a:solidFill>
                <a:latin typeface="Calibri"/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0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POC Demo: Healthcare Policy Content Analyzer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DCF0"/>
                </a:solidFill>
                <a:latin typeface="Calibri"/>
              </a:rPr>
              <a:t>A Streamlit web app demonstrating AI-driven billing policy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28016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1E1E"/>
                </a:solidFill>
                <a:latin typeface="Calibri"/>
              </a:rPr>
              <a:t>The POC accepts two PDF versions of a healthcare billing policy, analyzes them using Google Gemini (free tier), and presents four outputs in a tabbed dashboard: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2148840"/>
            <a:ext cx="3749039" cy="274320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79" y="22402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A0A0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74320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Policy Change Summary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337560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CF0"/>
                </a:solidFill>
                <a:latin typeface="Calibri"/>
              </a:rPr>
              <a:t>Executive summary, 31 key changes,
provider/payer impact table, denial risks.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59" y="2148840"/>
            <a:ext cx="3749039" cy="274320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3399" y="22402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A0A0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274320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Extracted Coding Rules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3337560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CF0"/>
                </a:solidFill>
                <a:latin typeface="Calibri"/>
              </a:rPr>
              <a:t>37 billing rules with denial_risk flags,
CPT codes, reimbursement rates.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83879" y="2148840"/>
            <a:ext cx="3749039" cy="274320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19" y="22402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A0A0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74320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Provider Alert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3337560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CF0"/>
                </a:solidFill>
                <a:latin typeface="Calibri"/>
              </a:rPr>
              <a:t>Professional provider communication draft
generated from uploaded policy content.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51206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787878"/>
                </a:solidFill>
                <a:latin typeface="Calibri"/>
              </a:rPr>
              <a:t>Launch:  streamlit run poc/app.py   |   Sidebar: select 'Offline Demo' (no key) or 'Gemini (free)' (requires GEMINI_API_KEY)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6492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87878"/>
                </a:solidFill>
                <a:latin typeface="Calibri"/>
              </a:rPr>
              <a:t>Cotiviti Intern Assessment  |  Likitha KB  |  June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87878"/>
                </a:solidFill>
                <a:latin typeface="Calibri"/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0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POC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DCF0"/>
                </a:solidFill>
                <a:latin typeface="Calibri"/>
              </a:rPr>
              <a:t>End-to-end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920240"/>
            <a:ext cx="2011680" cy="219456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2011680"/>
            <a:ext cx="1828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INPUT
Policy v1 PDF
&amp; Policy v2 PDF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27432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A0A0"/>
                </a:solidFill>
                <a:latin typeface="Calibri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2606040" y="1920240"/>
            <a:ext cx="2011680" cy="2194560"/>
          </a:xfrm>
          <a:prstGeom prst="rect">
            <a:avLst/>
          </a:prstGeom>
          <a:solidFill>
            <a:srgbClr val="00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97480" y="2011680"/>
            <a:ext cx="1828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EXTRACT
pypdf chunks
~11K chars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7432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A0A0"/>
                </a:solidFill>
                <a:latin typeface="Calibri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92040" y="1920240"/>
            <a:ext cx="2011680" cy="2194560"/>
          </a:xfrm>
          <a:prstGeom prst="rect">
            <a:avLst/>
          </a:prstGeom>
          <a:solidFill>
            <a:srgbClr val="0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83479" y="2011680"/>
            <a:ext cx="1828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ANALYZE
Gemini 2.5 Flash
via google-genai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27432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A0A0"/>
                </a:solidFill>
                <a:latin typeface="Calibri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78040" y="1920240"/>
            <a:ext cx="2011680" cy="2194560"/>
          </a:xfrm>
          <a:prstGeom prst="rect">
            <a:avLst/>
          </a:prstGeom>
          <a:solidFill>
            <a:srgbClr val="006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69479" y="2011680"/>
            <a:ext cx="1828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MERGE
Chunk results
&amp; compare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27432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A0A0"/>
                </a:solidFill>
                <a:latin typeface="Calibri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464040" y="1920240"/>
            <a:ext cx="2011680" cy="2194560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55480" y="2011680"/>
            <a:ext cx="1828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OUTPUT
Change Summary
Rules  Alert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79" y="425196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787878"/>
                </a:solidFill>
                <a:latin typeface="Calibri"/>
              </a:rPr>
              <a:t>Upload PDFs
via Streamlit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425196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787878"/>
                </a:solidFill>
                <a:latin typeface="Calibri"/>
              </a:rPr>
              <a:t>pypdf extract
+ chunk split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83479" y="425196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787878"/>
                </a:solidFill>
                <a:latin typeface="Calibri"/>
              </a:rPr>
              <a:t>4 parallel workers
per document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69479" y="425196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787878"/>
                </a:solidFill>
                <a:latin typeface="Calibri"/>
              </a:rPr>
              <a:t>programmatic
merge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55480" y="425196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787878"/>
                </a:solidFill>
                <a:latin typeface="Calibri"/>
              </a:rPr>
              <a:t>Streamlit
dashboard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507492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1E"/>
                </a:solidFill>
                <a:latin typeface="Calibri"/>
              </a:rPr>
              <a:t>Chunks are analyzed in parallel (ThreadPoolExecutor, 4 workers). Results are merged, then two final Gemini calls generate the complete rule set and provider alert. SHA-256 caching skips re-analysis of unchanged PDFs.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6492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87878"/>
                </a:solidFill>
                <a:latin typeface="Calibri"/>
              </a:rPr>
              <a:t>Cotiviti Intern Assessment  |  Likitha KB  |  June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87878"/>
                </a:solidFill>
                <a:latin typeface="Calibri"/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0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Live Demo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DCF0"/>
                </a:solidFill>
                <a:latin typeface="Calibri"/>
              </a:rPr>
              <a:t>Output from the Healthcare Policy Content Analyzer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80160"/>
            <a:ext cx="5669280" cy="52120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280160"/>
            <a:ext cx="5669280" cy="384048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30759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Change Summary Output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78308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100">
                <a:solidFill>
                  <a:srgbClr val="1E1E1E"/>
                </a:solidFill>
                <a:latin typeface="Calibri"/>
              </a:rPr>
              <a:t>▸  POLICY: 1995 vs 1997 CMS E/M Documentation Guidelines — 31 key changes detected.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1E1E1E"/>
                </a:solidFill>
                <a:latin typeface="Calibri"/>
              </a:rPr>
              <a:t>▸  KEY CHANGES: 1997 adds bullet-counting exams; Neurological/Respiratory require 12 elements, Psychiatric 9.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1E1E1E"/>
                </a:solidFill>
                <a:latin typeface="Calibri"/>
              </a:rPr>
              <a:t>▸  PROVIDER IMPACT: Chief Complaint required in all records; PFSH completeness thresholds differ by visit type.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1E1E1E"/>
                </a:solidFill>
                <a:latin typeface="Calibri"/>
              </a:rPr>
              <a:t>▸  PAYER IMPACT: 34 of 37 extracted billing rules carry denial risk flags; 6 HIGH + 1 MEDIUM risk.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1E1E1E"/>
                </a:solidFill>
                <a:latin typeface="Calibri"/>
              </a:rPr>
              <a:t>▸  RISK: Shaded/unshaded border rules for specialty exams — new in 1997, direct denial trigger.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280160"/>
            <a:ext cx="5623560" cy="52120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280160"/>
            <a:ext cx="5623560" cy="384048"/>
          </a:xfrm>
          <a:prstGeom prst="rect">
            <a:avLst/>
          </a:prstGeom>
          <a:solidFill>
            <a:srgbClr val="0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307592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Extracted Rules JSON (Excerpt)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78308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3C64"/>
                </a:solidFill>
                <a:latin typeface="Calibri"/>
              </a:rPr>
              <a:t>37 rules extracted. Sample:
{
  "rule": "Bullet-Counting Exam",
  "detail": "1997 specialty exam requires
   12 bullets (Neuro/Respiratory)
   or 9 bullets (Psychiatric).",
  "denial_risk": true
},
{
  "rule": "Chief Complaint Required",
  "detail": "CC must be documented
   in all E/M records.",
  "denial_risk": true
},
{
  "rule": "Shaded/Unshaded Borders",
  "detail": "1997: only shaded or
   unshaded elements count per exam.",
  "denial_risk": true
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6492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87878"/>
                </a:solidFill>
                <a:latin typeface="Calibri"/>
              </a:rPr>
              <a:t>Cotiviti Intern Assessment  |  Likitha KB  |  June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87878"/>
                </a:solidFill>
                <a:latin typeface="Calibri"/>
              </a:rPr>
              <a:t>10 /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0"/>
            <a:ext cx="12188952" cy="73152"/>
          </a:xfrm>
          <a:prstGeom prst="rect">
            <a:avLst/>
          </a:prstGeom>
          <a:solidFill>
            <a:srgbClr val="0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Key Takeaways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73152" cy="731520"/>
          </a:xfrm>
          <a:prstGeom prst="rect">
            <a:avLst/>
          </a:prstGeom>
          <a:solidFill>
            <a:srgbClr val="0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417320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Healthcare content management is broken at scale.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0136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ED7F0"/>
                </a:solidFill>
                <a:latin typeface="Calibri"/>
              </a:rPr>
              <a:t>Manual policy tracking costs the industry $40–60B+ and creates compliance risk.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423160"/>
            <a:ext cx="73152" cy="731520"/>
          </a:xfrm>
          <a:prstGeom prst="rect">
            <a:avLst/>
          </a:prstGeom>
          <a:solidFill>
            <a:srgbClr val="0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423160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LLMs are purpose-built for this problem.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80720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ED7F0"/>
                </a:solidFill>
                <a:latin typeface="Calibri"/>
              </a:rPr>
              <a:t>Summarization, extraction, and alert generation map directly to the core bottlenecks.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429000"/>
            <a:ext cx="73152" cy="731520"/>
          </a:xfrm>
          <a:prstGeom prst="rect">
            <a:avLst/>
          </a:prstGeom>
          <a:solidFill>
            <a:srgbClr val="0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429000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Cotiviti is uniquely positioned to lead.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81304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ED7F0"/>
                </a:solidFill>
                <a:latin typeface="Calibri"/>
              </a:rPr>
              <a:t>25+ years of payment integrity expertise + AI capability = market-defining product opportunity.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434840"/>
            <a:ext cx="73152" cy="731520"/>
          </a:xfrm>
          <a:prstGeom prst="rect">
            <a:avLst/>
          </a:prstGeom>
          <a:solidFill>
            <a:srgbClr val="0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4434840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The POC proves the concept as a working Streamlit web app.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81888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ED7F0"/>
                </a:solidFill>
                <a:latin typeface="Calibri"/>
              </a:rPr>
              <a:t>PDF upload → chunked Gemini analysis → structured rules + provider alert — fully automated.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440680"/>
            <a:ext cx="73152" cy="731520"/>
          </a:xfrm>
          <a:prstGeom prst="rect">
            <a:avLst/>
          </a:prstGeom>
          <a:solidFill>
            <a:srgbClr val="0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5440680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Human-in-the-loop is non-negotiable.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2472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ED7F0"/>
                </a:solidFill>
                <a:latin typeface="Calibri"/>
              </a:rPr>
              <a:t>Responsible AI in healthcare billing requires expert validation before rule activation.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46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A0BEDC"/>
                </a:solidFill>
                <a:latin typeface="Calibri"/>
              </a:rPr>
              <a:t>Thank you.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